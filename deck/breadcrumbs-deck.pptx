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**NARRATOR opens. Lead with the mission, not the recall.**</a:t>
            </a:r>
          </a:p>
          <a:p>
            <a:r>
              <a:t>- **"Our food supply is a black box. BREADCRUMBS makes it traceable — it knows where a food product came from and where it went, so the instant something is wrong, you can follow the crumbs back to the source and forward to every plate at risk."**</a:t>
            </a:r>
          </a:p>
          <a:p>
            <a:r>
              <a:t>- **Language discipline:** lead with *food traceability*. Say **recall responder**, never *outbreak detector*. Go easy on "operator" — say food business, restaurant group, grocer.</a:t>
            </a:r>
          </a:p>
          <a:p>
            <a:r>
              <a:t>- DRIVER has the console up and idle behind this. Do not touch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**"Today a food business finds out about a recall from a distributor email, days later, then hunts through spreadsheets to figure out which locations are hit. That's a phone tree across 12, 50, or 200 kitchens."**</a:t>
            </a:r>
          </a:p>
          <a:p>
            <a:r>
              <a:t>- The money is what lands with judges. Restaurant median **$0.04M–$1.1M per firm**. Grocers **~$10M average, 52% of major recalls exceed $10M**.</a:t>
            </a:r>
          </a:p>
          <a:p>
            <a:r>
              <a:t>- Don't read both columns aloud — pick one and gesture at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**"BREADCRUMBS did it in four seconds, on a box in the back office, with the supplier list never leaving the building."**</a:t>
            </a:r>
          </a:p>
          <a:p>
            <a:r>
              <a:t>- **"That's the difference between a recall and an outbreak."**</a:t>
            </a:r>
          </a:p>
          <a:p>
            <a:r>
              <a:t>- **THE CONTRAST CARD. Land on 4 seconds vs 2 days and STOP TALKING.** Two full seconds of silence. Single most important beat in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**"A food business's supplier list, purchase volumes, and margins are trade secrets. No one POSTs that to a cloud LLM to get a recall alert — the alert isn't worth the leak."**</a:t>
            </a:r>
          </a:p>
          <a:p>
            <a:r>
              <a:t>- **"FSMA 204 makes lot-level traceability a legal mandate, so this data is about to exist in every back office whether they like it or not."**</a:t>
            </a:r>
          </a:p>
          <a:p>
            <a:r>
              <a:t>- **"Local isn't a constraint we're excusing — it's the only shape the customer will accept."**</a:t>
            </a:r>
          </a:p>
          <a:p>
            <a:r>
              <a:t>- If pushed *"couldn't you just call GPT?"* → the moment you send the supplier graph to a cloud model you've leaked the trade secret the business most wants to protect, and you can't run always-on inside the four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**DRIVER takes the console. NARRATOR keeps talking. Never narrate and drive at once.**</a:t>
            </a:r>
          </a:p>
          <a:p>
            <a:r>
              <a:t>- BEAT 0 — **"This is a real NYC food business — 12 sites, their actual buildings. BREADCRUMBS is watching FDA recalls for them right now, and every byte is running on this box. No internet."**</a:t>
            </a:r>
          </a:p>
          <a:p>
            <a:r>
              <a:t>- **HONEST TAG — say it, don't wait to be asked:** *"The buildings and inspection data are real; this 12-site portfolio is an illustrative operator we modeled — I'll show you what's real underneath in a second."*</a:t>
            </a:r>
          </a:p>
          <a:p>
            <a:r>
              <a:t>- **PRIMARY PATH IS BAKED.** F-0757-2022 replays from Mongo on click — deterministic, never fails. Only add the live change-stream line if it is green.</a:t>
            </a:r>
          </a:p>
          <a:p>
            <a:r>
              <a:t>- Pre-flight: Mongo up · 12 blocks render · Dole trigger fires red · report generates · Telegram draft composes.</a:t>
            </a:r>
          </a:p>
          <a:p>
            <a:r>
              <a:t>- If a beat glitches, NARRATOR bridges — *"while that renders —"*. **Never say "it's broken."**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BEAT 1 — **"A recall just hit the feed. Dole iceberg lettuce. Listeria. Class I — that's the FDA's most serious, 'reasonable probability of death.' This is a real recall, real number."**</a:t>
            </a:r>
          </a:p>
          <a:p>
            <a:r>
              <a:t>- UPGRADE, only if live is green: *"That fired through a live MongoDB change stream — the moment the record hit the collection, the Watcher woke up. Nobody polled anything."*</a:t>
            </a:r>
          </a:p>
          <a:p>
            <a:r>
              <a:t>- ⚠️ **The change stream is NOT wired to auto-trigger run() yet.** If it isn't green, do not imply it is. Never fake a live fire you can't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BEAT 2 — **"Five of their twelve sites buy Dole lettuce. Those five just turned red. The other seven are fine — and knowing which is the whole game."**</a:t>
            </a:r>
          </a:p>
          <a:p>
            <a:r>
              <a:t>- **HONEST TAG — say it, don't wait to be asked:** *"The supplier-to-site link is the one modeled layer — and that's the point. FSMA 204 is the FDA rule that's supposed to make this traceable and doesn't yet. We're modeling the gap the law is trying to close. The 5 sites are real CAMIS locations; the buy-relationship is illustrative."*</a:t>
            </a:r>
          </a:p>
          <a:p>
            <a:r>
              <a:t>- Say **modeled** in the same breath as the number. Qualifying up front reads as confidence; walking it back later reads as hedging.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BEAT 3 — **"Now it scores the exposure with two real signals. Dole's own recall history — 205 Class-I records, real openFDA. And this site's critical violations from NYC health inspections."**</a:t>
            </a:r>
          </a:p>
          <a:p>
            <a:r>
              <a:t>- ❌ **Never say "C health grade."** Grades are a composite of vermin, facility, paperwork, temperature. We use **crit_violations** — range 0–56, citywide median 4.</a:t>
            </a:r>
          </a:p>
          <a:p>
            <a:r>
              <a:t>- **"A Class-I Listeria lot at a site whose handling controls are already the weakest is the highest-priority hold."**</a:t>
            </a:r>
          </a:p>
          <a:p>
            <a:r>
              <a:t>- **Jetro's 0-of-1 is a verified low record, never "clean."** An absence of matched records is not proof of a safer product — it can also mean lower recall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**"What the manager actually gets is a document a health inspector, an insurer, or a plaintiff's attorney already recognises."**</a:t>
            </a:r>
          </a:p>
          <a:p>
            <a:r>
              <a:t>- Fields map one-to-one onto the openFDA enforcement record. **21 CFR 7.3** for classification, **21 CFR 7.49** for the recall communication, **FSMA 204** for the traceability framing.</a:t>
            </a:r>
          </a:p>
          <a:p>
            <a:r>
              <a:t>- **"A dated, on-prem-generated report showing what they knew, when, and what action was directed is contemporaneous evidence of a good-faith response."**</a:t>
            </a:r>
          </a:p>
          <a:p>
            <a:r>
              <a:t>- ⚠️ **Telegram is drafted, not auto-dispatched.** Say "prepared" — do not imply it fired to a live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**This is the credibility slide. Volunteer it before a judge digs for it.**</a:t>
            </a:r>
          </a:p>
          <a:p>
            <a:r>
              <a:t>- **"We cover ~100% of FDA lot-coded enforcement recalls, and a minority of the full universe of epidemiological outbreaks. We sit downstream of CDC/FDA traceback and act the instant a recall posts."**</a:t>
            </a:r>
          </a:p>
          <a:p>
            <a:r>
              <a:t>- **Q4 — Boar's Head:** *"Blind spot, and we label it. USDA FSIS — deli meat, poultry, red meat — is invisible to openFDA, which is our feed. FSIS publishes a parallel recall feed in the same shape; it's a connector, not a redesign. We'd rather tell you the boundary than get caught at it."*</a:t>
            </a:r>
          </a:p>
          <a:p>
            <a:r>
              <a:t>- **Q5 — does it catch outbreaks early?** *"No, and we won't claim it. It's a recall responder, not an outbreak detector. Overclaiming is how these demos lose credibility."*</a:t>
            </a:r>
          </a:p>
          <a:p>
            <a:r>
              <a:t>- Jif 2022 proves it isn't cherry-picked — **24 real Class-I Smucker records** verified in the feed. Real cadence: **24 NY-distributed Class-I recalls in 2025–26**, roughly 1–2 a month. A real alert stream, not a firehose and not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**Q1 — "unset the API key, what changes?"** → *"The narration sentence goes generic. Nothing else. Every red site, every risk score, the swap, the report — all deterministic Mongo aggregation. The LLM writes prose; it doesn't make the decision. That's why we're comfortable offline — the load-bearing logic can't hallucinate."*</a:t>
            </a:r>
          </a:p>
          <a:p>
            <a:r>
              <a:t>- **Q3 — "so what's actually real?"** → real: 29,310 recalls, 17,204 geocoded sites with critical-violation counts, distributor histories, the buildings. Modeled and labeled: which supplier feeds which site, and the illustrative 12-site portfolio.</a:t>
            </a:r>
          </a:p>
          <a:p>
            <a:r>
              <a:t>- **"When a real food business plugs in their real supplier list, the modeled layer disappears."**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**"Five stages. Four are pure deterministic computation over real data. The LLM touches exactly one — Comms — and only for wording."**</a:t>
            </a:r>
          </a:p>
          <a:p>
            <a:r>
              <a:t>- **"Tracer and Risk run concurrently — point at the two lines."**</a:t>
            </a:r>
          </a:p>
          <a:p>
            <a:r>
              <a:t>- **Q6 — why MongoDB, not a spreadsheet?** → geospatial 2dsphere $near, the $lookup/$group join at query time, and the change stream. *"A spreadsheet is a snapshot; this is a watcher."*</a:t>
            </a:r>
          </a:p>
          <a:p>
            <a:r>
              <a:t>- ⚠️ Honest edge if asked which are live: geo, the aggregation and agent_memory drive the demo. **The change-stream Watcher observes inserts but does not yet auto-trigger run().**</a:t>
            </a:r>
          </a:p>
          <a:p>
            <a:r>
              <a:t>- Model: **Llama-3.1-Nemotron-Nano-4B via vLLM on localhost:8000**, confirmed returning real completions.</a:t>
            </a:r>
          </a:p>
          <a:p>
            <a:r>
              <a:t>- **This is the cuttable slide.** If over time, compress to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**"The hinge is a regulation, and it writes our data for us."**</a:t>
            </a:r>
          </a:p>
          <a:p>
            <a:r>
              <a:t>- **"FSMA 204 makes lot-level traceability a legal recordkeeping mandate — mandatory July 20, 2028. To comply, they have to generate lot codes and key data elements at every critical tracking event. Those records are exactly the edges we model today."**</a:t>
            </a:r>
          </a:p>
          <a:p>
            <a:r>
              <a:t>- **"Feed them into the same engine and the modeled links become real provenance. No new algorithm — the same aggregation on real edges."**</a:t>
            </a:r>
          </a:p>
          <a:p>
            <a:r>
              <a:t>- **Q8 — the business past a demo:** an on-prem appliance, priced per site. *"The wedge is recall response; the moat is that once their real supplier graph lives in it, it becomes the traceability system of record the law requires."*</a:t>
            </a:r>
          </a:p>
          <a:p>
            <a:r>
              <a:t>- TAM: **~$30B by 2030** (Grand View, 8.8% CAGR — other houses range $10B–$44B). Say "roughly"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**"One restaurant group. Their real purchase records. Twelve months."**</a:t>
            </a:r>
          </a:p>
          <a:p>
            <a:r>
              <a:t>- **"That one step converts the modeled edges into real provenance and proves the platform hinge on live data. No hockey stick — one operator, their records, on their own box. Same engine the whole way up."**</a:t>
            </a:r>
          </a:p>
          <a:p>
            <a:r>
              <a:t>- **END THERE.** No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**Do not present this slide. Pre-flight card.**</a:t>
            </a:r>
          </a:p>
          <a:p>
            <a:r>
              <a:t>- **Roles.** DRIVER — hands on keyboard, talks least, owns Beats 0–5. NARRATOR — every SPOKEN line and every HONEST TAG, owns pacing and the close. Q&amp;A LEAD — the 8 questions, especially Q4 (Boar's Head), Q5 (not an outbreak detector), Q1 (pull the key).</a:t>
            </a:r>
          </a:p>
          <a:p>
            <a:r>
              <a:t>- If 2 people: Driver + (Narrator = Q&amp;A Lead). If 3: pre-agree a handoff cue so judge questions don't collide.</a:t>
            </a:r>
          </a:p>
          <a:p>
            <a:r>
              <a:t>- **60-second shared pre-flight:** Mongo up · console renders 12 blocks · Dole trigger fires red · report generates · Telegram draft composes · timer card loads.</a:t>
            </a:r>
          </a:p>
          <a:p>
            <a:r>
              <a:t>- **If any live upgrade is red, agree now to run baked-only and cut the UPGRADE asides.** Decided before you walk up — never mid-demo.</a:t>
            </a:r>
          </a:p>
          <a:p>
            <a:r>
              <a:t>- Practise the honest tags until they sound like confidence, not apology.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eadcrumb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87" y="932688"/>
            <a:ext cx="3931920" cy="14754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30175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>
                <a:solidFill>
                  <a:srgbClr val="E8EDF4"/>
                </a:solidFill>
                <a:latin typeface="Archivo"/>
              </a:rPr>
              <a:t>Our food supply is a black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03904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3FB6C9"/>
                </a:solidFill>
                <a:latin typeface="IBM Plex Mono"/>
              </a:rPr>
              <a:t>Follow the crumbs back to the source —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3FB6C9"/>
                </a:solidFill>
                <a:latin typeface="IBM Plex Mono"/>
              </a:rPr>
              <a:t>and forward to every plate at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5767" y="5120640"/>
            <a:ext cx="1280160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31536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80">
                <a:solidFill>
                  <a:srgbClr val="6B7A95"/>
                </a:solidFill>
                <a:latin typeface="IBM Plex Mono"/>
              </a:rPr>
              <a:t>ALWAYS-ON FOOD TRACEABILITY   ·   ON-PREM   ·   NVIDIA GB10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How it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distributor email  →  days later  →  spreadsheet hunt  →  phone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2331720" cy="1078992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432304"/>
            <a:ext cx="2039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Distributor email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arrives days after the recall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517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2304288"/>
            <a:ext cx="2331720" cy="1078992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2432304"/>
            <a:ext cx="2039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Spreadsheet hunt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which locations bought the lot?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26517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2304288"/>
            <a:ext cx="2331720" cy="1078992"/>
          </a:xfrm>
          <a:prstGeom prst="rect">
            <a:avLst/>
          </a:prstGeom>
          <a:solidFill>
            <a:srgbClr val="0B111C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2432304"/>
            <a:ext cx="2039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Phone tree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12, 50, or 200 kitchens, one at a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6517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0496" y="2304288"/>
            <a:ext cx="2331720" cy="1078992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432304"/>
            <a:ext cx="2039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Action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if it is still in time to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7705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80">
                <a:solidFill>
                  <a:srgbClr val="6B7A95"/>
                </a:solidFill>
                <a:latin typeface="IBM Plex Mono"/>
              </a:rPr>
              <a:t>THE STAKES ARE REAL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0A95A"/>
                </a:solidFill>
                <a:latin typeface="Archivo"/>
              </a:rPr>
              <a:t>$0.04M–$1.1M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median per-recall cost, per restaurant 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418" y="429768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0A95A"/>
                </a:solidFill>
                <a:latin typeface="Archivo"/>
              </a:rPr>
              <a:t>~$10M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average direct recall cost for grocers (FMI/GMA)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1596" y="429768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484D"/>
                </a:solidFill>
                <a:latin typeface="Archivo"/>
              </a:rPr>
              <a:t>52%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of major recalls exceed $10M in total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95"/>
                </a:solidFill>
                <a:latin typeface="IBM Plex Mono"/>
              </a:rPr>
              <a:t>The reputational tail is far larger.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5318607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3FB6C9"/>
                </a:solidFill>
                <a:latin typeface="IBM Plex Mono"/>
              </a:rPr>
              <a:t>BREADCRUMBS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6400" b="1">
                <a:solidFill>
                  <a:srgbClr val="E8EDF4"/>
                </a:solidFill>
                <a:latin typeface="Archivo"/>
              </a:rPr>
              <a:t>4 seconds</a:t>
            </a:r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sz="1300" b="0">
                <a:solidFill>
                  <a:srgbClr val="6B7A95"/>
                </a:solidFill>
                <a:latin typeface="IBM Plex Mono"/>
              </a:rPr>
              <a:t>on a box in the back office,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supplier list never leaving the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7559" y="1965960"/>
            <a:ext cx="9525" cy="21031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047" y="1965960"/>
            <a:ext cx="4861407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6B7A95"/>
                </a:solidFill>
                <a:latin typeface="IBM Plex Mono"/>
              </a:rPr>
              <a:t>TODAY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6400" b="1">
                <a:solidFill>
                  <a:srgbClr val="6B7A95"/>
                </a:solidFill>
                <a:latin typeface="Archivo"/>
              </a:rPr>
              <a:t>2 days</a:t>
            </a:r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sz="1300" b="0">
                <a:solidFill>
                  <a:srgbClr val="6B7A95"/>
                </a:solidFill>
                <a:latin typeface="IBM Plex Mono"/>
              </a:rPr>
              <a:t>email, spreadsheets, and a phone tree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across every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3FB6C9"/>
                </a:solidFill>
                <a:latin typeface="Archivo"/>
              </a:rPr>
              <a:t>That's the difference between a recall and an outbreak.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Why it has to run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744096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8EDF4"/>
                </a:solidFill>
                <a:latin typeface="Archivo"/>
              </a:rPr>
              <a:t>A food business's supplier list, purchase volumes and margins are trade secrets.</a:t>
            </a:r>
          </a:p>
          <a:p>
            <a:pPr algn="l">
              <a:lnSpc>
                <a:spcPct val="155000"/>
              </a:lnSpc>
              <a:spcBef>
                <a:spcPts val="1800"/>
              </a:spcBef>
            </a:pPr>
            <a:r>
              <a:rPr sz="1400" b="0">
                <a:solidFill>
                  <a:srgbClr val="6B7A95"/>
                </a:solidFill>
                <a:latin typeface="IBM Plex Mono"/>
              </a:rPr>
              <a:t>No one POSTs that to a cloud LLM to get a recall alert.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6B7A95"/>
                </a:solidFill>
                <a:latin typeface="IBM Plex Mono"/>
              </a:rPr>
              <a:t>The alert isn't worth the leak.</a:t>
            </a:r>
          </a:p>
          <a:p>
            <a:pPr algn="l">
              <a:lnSpc>
                <a:spcPct val="150000"/>
              </a:lnSpc>
              <a:spcBef>
                <a:spcPts val="2200"/>
              </a:spcBef>
            </a:pPr>
            <a:r>
              <a:rPr sz="1500" b="0">
                <a:solidFill>
                  <a:srgbClr val="3FB6C9"/>
                </a:solidFill>
                <a:latin typeface="IBM Plex Mono"/>
              </a:rPr>
              <a:t>Local isn't a constraint we're excusing —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it's the only shape the customer will accept.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59569" y="2011680"/>
            <a:ext cx="4254886" cy="3054096"/>
          </a:xfrm>
          <a:prstGeom prst="rect">
            <a:avLst/>
          </a:prstGeom>
          <a:solidFill>
            <a:srgbClr val="0B111C"/>
          </a:solidFill>
          <a:ln w="9525">
            <a:solidFill>
              <a:srgbClr val="E0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5601" y="2286000"/>
            <a:ext cx="374282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0A95A"/>
                </a:solidFill>
                <a:latin typeface="Archivo"/>
              </a:rPr>
              <a:t>FSMA 204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FDA Food Traceability Rule</a:t>
            </a: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000" b="1">
                <a:solidFill>
                  <a:srgbClr val="E8EDF4"/>
                </a:solidFill>
                <a:latin typeface="Archivo"/>
              </a:rPr>
              <a:t>MANDATORY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Archivo"/>
              </a:rPr>
              <a:t>JULY 20, 2028</a:t>
            </a:r>
          </a:p>
          <a:p>
            <a:pPr algn="l">
              <a:lnSpc>
                <a:spcPct val="145000"/>
              </a:lnSpc>
              <a:spcBef>
                <a:spcPts val="1600"/>
              </a:spcBef>
            </a:pPr>
            <a:r>
              <a:rPr sz="1050" b="0">
                <a:solidFill>
                  <a:srgbClr val="6B7A95"/>
                </a:solidFill>
                <a:latin typeface="IBM Plex Mono"/>
              </a:rPr>
              <a:t>Lot-level traceability becomes a legal recordkeeping mandate — so this data is about to exist in every back office whether they like it or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a real NYC food business · 12 sites · their actual buildings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245356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FB6C9"/>
                </a:solidFill>
                <a:latin typeface="Archivo"/>
              </a:rPr>
              <a:t>12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050" b="0">
                <a:solidFill>
                  <a:srgbClr val="6B7A95"/>
                </a:solidFill>
                <a:latin typeface="IBM Plex Mono"/>
              </a:rPr>
              <a:t>sites in the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123" y="2304288"/>
            <a:ext cx="245356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FB6C9"/>
                </a:solidFill>
                <a:latin typeface="Archivo"/>
              </a:rPr>
              <a:t>0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050" b="0">
                <a:solidFill>
                  <a:srgbClr val="6B7A95"/>
                </a:solidFill>
                <a:latin typeface="IBM Plex Mono"/>
              </a:rPr>
              <a:t>bytes leaving the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6" y="2304288"/>
            <a:ext cx="245356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FB6C9"/>
                </a:solidFill>
                <a:latin typeface="Archivo"/>
              </a:rPr>
              <a:t>29,310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050" b="0">
                <a:solidFill>
                  <a:srgbClr val="6B7A95"/>
                </a:solidFill>
                <a:latin typeface="IBM Plex Mono"/>
              </a:rPr>
              <a:t>FDA recalls indexed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0889" y="2304288"/>
            <a:ext cx="245356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FB6C9"/>
                </a:solidFill>
                <a:latin typeface="Archivo"/>
              </a:rPr>
              <a:t>17,204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050" b="0">
                <a:solidFill>
                  <a:srgbClr val="6B7A95"/>
                </a:solidFill>
                <a:latin typeface="IBM Plex Mono"/>
              </a:rPr>
              <a:t>geocoded sites with violation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05072"/>
            <a:ext cx="10637215" cy="1298448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100885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spc="160">
                <a:solidFill>
                  <a:srgbClr val="E0A95A"/>
                </a:solidFill>
                <a:latin typeface="IBM Plex Mono"/>
              </a:rPr>
              <a:t>SAY IT, DON'T WAIT TO BE ASKED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sz="1400" b="0">
                <a:solidFill>
                  <a:srgbClr val="E8EDF4"/>
                </a:solidFill>
                <a:latin typeface="Archivo"/>
              </a:rPr>
              <a:t>“The buildings and inspection data are real. This 12-site portfolio is an illustrative operator we modeled — I'll show you what's real underneath in a second.”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7A95"/>
                </a:solidFill>
                <a:latin typeface="IBM Plex Mono"/>
              </a:rPr>
              <a:t>BREADCRUMBS is watching the FDA recall feed for them right now, and every byte is running on this box. No internet.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A Class I recall drops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0637215" cy="2103120"/>
          </a:xfrm>
          <a:prstGeom prst="rect">
            <a:avLst/>
          </a:prstGeom>
          <a:solidFill>
            <a:srgbClr val="0B111C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249424"/>
            <a:ext cx="1001542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spc="140">
                <a:solidFill>
                  <a:srgbClr val="E5484D"/>
                </a:solidFill>
                <a:latin typeface="IBM Plex Mono"/>
              </a:rPr>
              <a:t>F-0757-2022</a:t>
            </a:r>
          </a:p>
          <a:p>
            <a:pPr algn="l">
              <a:spcBef>
                <a:spcPts val="1000"/>
              </a:spcBef>
            </a:pPr>
            <a:r>
              <a:rPr sz="2700" b="1">
                <a:solidFill>
                  <a:srgbClr val="E8EDF4"/>
                </a:solidFill>
                <a:latin typeface="Archivo"/>
              </a:rPr>
              <a:t>DOLE FRESH VEGETABLES INC — iceberg lettuce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7A95"/>
                </a:solidFill>
                <a:latin typeface="IBM Plex Mono"/>
              </a:rPr>
              <a:t>Listeria monocytogenes   ·   Class I   ·   firm state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07408"/>
            <a:ext cx="50900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80">
                <a:solidFill>
                  <a:srgbClr val="6B7A95"/>
                </a:solidFill>
                <a:latin typeface="IBM Plex Mono"/>
              </a:rPr>
              <a:t>WHAT CLASS I MEANS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E8EDF4"/>
                </a:solidFill>
                <a:latin typeface="Archivo"/>
              </a:rPr>
              <a:t>“A reasonable probability of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8EDF4"/>
                </a:solidFill>
                <a:latin typeface="Archivo"/>
              </a:rPr>
              <a:t>serious adverse health consequences or death.”</a:t>
            </a:r>
          </a:p>
          <a:p>
            <a:pPr algn="l">
              <a:spcBef>
                <a:spcPts val="1200"/>
              </a:spcBef>
            </a:pPr>
            <a:r>
              <a:rPr sz="1150" b="0">
                <a:solidFill>
                  <a:srgbClr val="6B7A95"/>
                </a:solidFill>
                <a:latin typeface="IBM Plex Mono"/>
              </a:rPr>
              <a:t>21 CFR 7.3 — the FDA's most serious classification.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4407408"/>
            <a:ext cx="50900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80">
                <a:solidFill>
                  <a:srgbClr val="6B7A95"/>
                </a:solidFill>
                <a:latin typeface="IBM Plex Mono"/>
              </a:rPr>
              <a:t>PROVENANCE</a:t>
            </a:r>
          </a:p>
          <a:p>
            <a:pPr algn="l">
              <a:spcBef>
                <a:spcPts val="800"/>
              </a:spcBef>
            </a:pPr>
            <a:r>
              <a:rPr sz="3000" b="1">
                <a:solidFill>
                  <a:srgbClr val="3FB6C9"/>
                </a:solidFill>
                <a:latin typeface="Archivo"/>
              </a:rPr>
              <a:t>REAL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sz="1250" b="0">
                <a:solidFill>
                  <a:srgbClr val="6B7A95"/>
                </a:solidFill>
                <a:latin typeface="IBM Plex Mono"/>
              </a:rPr>
              <a:t>openFDA food enforcement.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B7A95"/>
                </a:solidFill>
                <a:latin typeface="IBM Plex Mono"/>
              </a:rPr>
              <a:t>Real recall, real number — one of 29,310 in the local corpus.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Trace it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1911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E5484D"/>
                </a:solidFill>
                <a:latin typeface="Archivo"/>
              </a:rPr>
              <a:t>5 of 12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300" b="0">
                <a:solidFill>
                  <a:srgbClr val="6B7A95"/>
                </a:solidFill>
                <a:latin typeface="IBM Plex Mono"/>
              </a:rPr>
              <a:t>sites received the lot.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The other seven are fine — and knowing which is the whole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3893" y="2011680"/>
            <a:ext cx="266781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1706" y="2011680"/>
            <a:ext cx="23869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SUPPLIER LINK → THIS 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697" y="2011680"/>
            <a:ext cx="19657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VERIFY AGAINST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3893" y="2304288"/>
            <a:ext cx="7020562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3893" y="2450592"/>
            <a:ext cx="253065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05 — 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1706" y="2450592"/>
            <a:ext cx="2249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Dole → iceberg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697" y="2450592"/>
            <a:ext cx="182859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Receiving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3893" y="2788920"/>
            <a:ext cx="7020562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3893" y="2871216"/>
            <a:ext cx="253065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11 — Harlem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1706" y="2871216"/>
            <a:ext cx="2249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Dole → iceberg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697" y="2871216"/>
            <a:ext cx="182859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Receiving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3893" y="3209544"/>
            <a:ext cx="7020562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3893" y="3291840"/>
            <a:ext cx="253065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03 — Midtown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1706" y="3291840"/>
            <a:ext cx="2249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Dole → iceberg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697" y="3291840"/>
            <a:ext cx="182859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Receiving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3893" y="3630168"/>
            <a:ext cx="7020562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3893" y="3712464"/>
            <a:ext cx="253065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07 — Williamsburg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1706" y="3712464"/>
            <a:ext cx="2249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Dole → iceberg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697" y="3712464"/>
            <a:ext cx="182859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Receiving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3893" y="4050792"/>
            <a:ext cx="7020562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3893" y="4133088"/>
            <a:ext cx="253065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09 — LIC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1706" y="4133088"/>
            <a:ext cx="2249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Dole → iceberg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8697" y="4133088"/>
            <a:ext cx="182859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Receiving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3893" y="4471416"/>
            <a:ext cx="7020562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46320"/>
            <a:ext cx="10637215" cy="1298448"/>
          </a:xfrm>
          <a:prstGeom prst="rect">
            <a:avLst/>
          </a:prstGeom>
          <a:solidFill>
            <a:srgbClr val="0B111C"/>
          </a:solidFill>
          <a:ln w="9525">
            <a:solidFill>
              <a:srgbClr val="E0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047488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spc="150">
                <a:solidFill>
                  <a:srgbClr val="E0A95A"/>
                </a:solidFill>
                <a:latin typeface="IBM Plex Mono"/>
              </a:rPr>
              <a:t>MODELED — SAY IT IN THE SAME BREATH AS THE NUMBER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sz="1300" b="0">
                <a:solidFill>
                  <a:srgbClr val="E8EDF4"/>
                </a:solidFill>
                <a:latin typeface="Archivo"/>
              </a:rPr>
              <a:t>The supplier→site link is the one modeled layer — and that's the point. FSMA 204 is the rule that's supposed to make this traceable and doesn't yet. We model the gap the law is trying to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Two independent, real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60">
                <a:solidFill>
                  <a:srgbClr val="3FB6C9"/>
                </a:solidFill>
                <a:latin typeface="IBM Plex Mono"/>
              </a:rPr>
              <a:t>1 — DISTRIBUTOR RECALL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7994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6724" y="2377440"/>
            <a:ext cx="10996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CLASS-I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6408" y="2377440"/>
            <a:ext cx="20993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70048"/>
            <a:ext cx="4998567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16352"/>
            <a:ext cx="16623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Dole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6724" y="2816352"/>
            <a:ext cx="9625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5484D"/>
                </a:solidFill>
                <a:latin typeface="IBM Plex Mono"/>
              </a:rPr>
              <a:t>205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408" y="2816352"/>
            <a:ext cx="196223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Extensive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54680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16623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Fresh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6724" y="3236976"/>
            <a:ext cx="9625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5A"/>
                </a:solidFill>
                <a:latin typeface="IBM Plex Mono"/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408" y="3236976"/>
            <a:ext cx="196223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575304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16623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Sysco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6724" y="3657600"/>
            <a:ext cx="9625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5A"/>
                </a:solidFill>
                <a:latin typeface="IBM Plex Mono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6408" y="3657600"/>
            <a:ext cx="196223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95928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78224"/>
            <a:ext cx="16623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FB6C9"/>
                </a:solidFill>
                <a:latin typeface="Archivo"/>
              </a:rPr>
              <a:t>Jetro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6724" y="4078224"/>
            <a:ext cx="9625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FB6C9"/>
                </a:solidFill>
                <a:latin typeface="IBM Plex Mono"/>
              </a:rPr>
              <a:t>0 of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6408" y="4078224"/>
            <a:ext cx="196223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Verified low record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16552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73168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95"/>
                </a:solidFill>
                <a:latin typeface="IBM Plex Mono"/>
              </a:rPr>
              <a:t>REAL — openFDA firm-level recall 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20116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60">
                <a:solidFill>
                  <a:srgbClr val="3FB6C9"/>
                </a:solidFill>
                <a:latin typeface="IBM Plex Mono"/>
              </a:rPr>
              <a:t>2 — SITE HANDLING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2377440"/>
            <a:ext cx="19994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5313" y="2377440"/>
            <a:ext cx="6997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CRIT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5112" y="2377440"/>
            <a:ext cx="6997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VS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4911" y="2377440"/>
            <a:ext cx="15995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READ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5887" y="2670048"/>
            <a:ext cx="4998567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5887" y="2816352"/>
            <a:ext cx="186226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05 — 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5313" y="2816352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5484D"/>
                </a:solidFill>
                <a:latin typeface="IBM Plex Mono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5112" y="2816352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+10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911" y="2816352"/>
            <a:ext cx="146238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Elevated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3154680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5887" y="3236976"/>
            <a:ext cx="186226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11 — Harlem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5313" y="3236976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IBM Plex Mono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5112" y="3236976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+5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4911" y="3236976"/>
            <a:ext cx="146238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Above median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5887" y="3575304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5887" y="3657600"/>
            <a:ext cx="186226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03 — Midtown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5313" y="3657600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IBM Plex Mono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5112" y="3657600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+2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4911" y="3657600"/>
            <a:ext cx="146238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Slightly above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5887" y="3995928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5887" y="4078224"/>
            <a:ext cx="186226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DF4"/>
                </a:solidFill>
                <a:latin typeface="Archivo"/>
              </a:rPr>
              <a:t>Site 07 — Williamsburg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5313" y="4078224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IBM Plex Mon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5112" y="4078224"/>
            <a:ext cx="562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4911" y="4078224"/>
            <a:ext cx="146238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At median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5887" y="4416552"/>
            <a:ext cx="4998567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5887" y="4773168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95"/>
                </a:solidFill>
                <a:latin typeface="IBM Plex Mono"/>
              </a:rPr>
              <a:t>REAL — DOHMH crit_violations (0–56, median 4)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084064"/>
            <a:ext cx="10637215" cy="1188720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266944"/>
            <a:ext cx="100885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FB6C9"/>
                </a:solidFill>
                <a:latin typeface="Archivo"/>
              </a:rPr>
              <a:t>0 of 1 is a VERIFIED LOW RECORD — never “clean”.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An absence of matched records is not proof of a safer product; it can also mean lower recall visibility.   ·   Never say “C health grade” — grades composite vermin, facility, paperwork and temperature. We use crit_violations.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What the manager actually 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a document a health inspector, an insurer, or a plaintiff's attorney already recognises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4893118" cy="3145536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523744"/>
            <a:ext cx="438105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DF4"/>
                </a:solidFill>
                <a:latin typeface="Archivo"/>
              </a:rPr>
              <a:t>Recall Exposure &amp; Action Report</a:t>
            </a:r>
          </a:p>
          <a:p>
            <a:pPr algn="l">
              <a:lnSpc>
                <a:spcPct val="185000"/>
              </a:lnSpc>
              <a:spcBef>
                <a:spcPts val="1400"/>
              </a:spcBef>
            </a:pPr>
            <a:r>
              <a:rPr sz="1200" b="0">
                <a:solidFill>
                  <a:srgbClr val="E8EDF4"/>
                </a:solidFill>
                <a:latin typeface="IBM Plex Mono"/>
              </a:rPr>
              <a:t>A   FDA recall facts — mapped 1:1 to openFDA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B   Exposure — which sites received the lot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C   Risk — two independent real signals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D   Recommended action — deterministic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E   Real vs. modeled provenance</a:t>
            </a:r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sz="1050" b="0">
                <a:solidFill>
                  <a:srgbClr val="3FB6C9"/>
                </a:solidFill>
                <a:latin typeface="IBM Plex Mono"/>
              </a:rPr>
              <a:t>21 CFR 7.3 · classification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FB6C9"/>
                </a:solidFill>
                <a:latin typeface="IBM Plex Mono"/>
              </a:rPr>
              <a:t>21 CFR 7.49 · recall communication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7558" y="2304288"/>
            <a:ext cx="5286897" cy="2048256"/>
          </a:xfrm>
          <a:prstGeom prst="rect">
            <a:avLst/>
          </a:prstGeom>
          <a:solidFill>
            <a:srgbClr val="060A12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5302" y="2487168"/>
            <a:ext cx="48114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spc="160">
                <a:solidFill>
                  <a:srgbClr val="6B7A95"/>
                </a:solidFill>
                <a:latin typeface="IBM Plex Mono"/>
              </a:rPr>
              <a:t>TELEGRAM / SMS OUTBOX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050" b="0">
                <a:solidFill>
                  <a:srgbClr val="E8EDF4"/>
                </a:solidFill>
                <a:latin typeface="IBM Plex Mono"/>
              </a:rPr>
              <a:t>FDA CLASS I RECALL — action needed today.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E8EDF4"/>
                </a:solidFill>
                <a:latin typeface="IBM Plex Mono"/>
              </a:rPr>
              <a:t>Dole iceberg lettuce (Listeria), recall F-0757-2022.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E8EDF4"/>
                </a:solidFill>
                <a:latin typeface="IBM Plex Mono"/>
              </a:rPr>
              <a:t>5 of your 12 sites received matching lots: Midtown,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E8EDF4"/>
                </a:solidFill>
                <a:latin typeface="IBM Plex Mono"/>
              </a:rPr>
              <a:t>LES, Williamsburg, LIC, Harlem.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E8EDF4"/>
                </a:solidFill>
                <a:latin typeface="IBM Plex Mono"/>
              </a:rPr>
              <a:t>DO: hold &amp; segregate now; verify lot codes; do not serve.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E8EDF4"/>
                </a:solidFill>
                <a:latin typeface="IBM Plex Mono"/>
              </a:rPr>
              <a:t>Full report + swap: BC-2026-0822-0417 (PDF).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7558" y="4535424"/>
            <a:ext cx="528689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A95A"/>
                </a:solidFill>
                <a:latin typeface="Archivo"/>
              </a:rPr>
              <a:t>Drafted, not dispatched.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B7A95"/>
                </a:solidFill>
                <a:latin typeface="IBM Plex Mono"/>
              </a:rPr>
              <a:t>A human still hits 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044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7A95"/>
                </a:solidFill>
                <a:latin typeface="IBM Plex Mono"/>
              </a:rPr>
              <a:t>A dated, on-prem-generated report showing what they knew, when, and what action was directed is contemporaneous evidence of a good-faith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Where we work — and where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volunteer this before a judge digs for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2765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REAL US OUTBREAK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2915" y="2304288"/>
            <a:ext cx="11700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RELEVANT?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3008" y="2304288"/>
            <a:ext cx="67014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60">
                <a:solidFill>
                  <a:srgbClr val="6B7A95"/>
                </a:solidFill>
                <a:latin typeface="IBM Plex Mono"/>
              </a:rPr>
              <a:t>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96896"/>
            <a:ext cx="10637215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6285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Jif peanut butter,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2915" y="2743200"/>
            <a:ext cx="103293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FB6C9"/>
                </a:solidFill>
                <a:latin typeface="IBM Plex Mono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3008" y="2743200"/>
            <a:ext cx="656428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FDA Class-I lot-coded recall — exactly our trigger. 24 real Smucker records verified.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10637215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26285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McDonald's / Taylor Farms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onions,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2915" y="3328416"/>
            <a:ext cx="103293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FB6C9"/>
                </a:solidFill>
                <a:latin typeface="IBM Plex Mono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3008" y="3328416"/>
            <a:ext cx="656428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FDA-regulated produce, lot-coded — we map it to the sites that received the 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31336"/>
            <a:ext cx="10637215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13632"/>
            <a:ext cx="26285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Yuma romaine, 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2915" y="3913632"/>
            <a:ext cx="103293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5A"/>
                </a:solidFill>
                <a:latin typeface="IBM Plex Mono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008" y="3913632"/>
            <a:ext cx="656428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Commodity produce → a public advisory, not a lot-coded recall. No lot to trace.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16552"/>
            <a:ext cx="10637215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26285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Boar's Head deli meat,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2915" y="4498848"/>
            <a:ext cx="103293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5484D"/>
                </a:solidFill>
                <a:latin typeface="IBM Plex Mono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3008" y="4498848"/>
            <a:ext cx="656428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USDA FSIS jurisdiction — invisible to the openFDA food feed. Our labeled boundary.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01768"/>
            <a:ext cx="10637215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84064"/>
            <a:ext cx="26285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EDF4"/>
                </a:solidFill>
                <a:latin typeface="Archivo"/>
              </a:rPr>
              <a:t>Chipotle,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2915" y="5084064"/>
            <a:ext cx="103293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5484D"/>
                </a:solidFill>
                <a:latin typeface="IBM Plex Mono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3008" y="5084064"/>
            <a:ext cx="656428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No recall was ever issued and the ingredient was never identified — nothing to trigger 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586984"/>
            <a:ext cx="10637215" cy="9525"/>
          </a:xfrm>
          <a:prstGeom prst="rect">
            <a:avLst/>
          </a:prstGeom>
          <a:solidFill>
            <a:srgbClr val="0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05856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3FB6C9"/>
                </a:solidFill>
                <a:latin typeface="Archivo"/>
              </a:rPr>
              <a:t>~100% of FDA lot-coded enforcement recalls. A minority of the full universe of epidemiological outbreaks.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We sit downstream of CDC/FDA traceback and act the instant a recall posts.   ·   Real cadence: 24 NY-distributed Class-I recalls in 2025–26 — roughly 1–2 a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An instrument, not an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372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0A95A"/>
                </a:solidFill>
                <a:latin typeface="Archivo"/>
              </a:rPr>
              <a:t>“Unset the API key — what changes?”</a:t>
            </a:r>
          </a:p>
          <a:p>
            <a:pPr algn="l">
              <a:lnSpc>
                <a:spcPct val="155000"/>
              </a:lnSpc>
              <a:spcBef>
                <a:spcPts val="1200"/>
              </a:spcBef>
            </a:pPr>
            <a:r>
              <a:rPr sz="1400" b="0">
                <a:solidFill>
                  <a:srgbClr val="E8EDF4"/>
                </a:solidFill>
                <a:latin typeface="IBM Plex Mono"/>
              </a:rPr>
              <a:t>The narration sentence goes generic. Nothing else. Every red site, every risk score, the swap, the report — all deterministic Mongo aggregation. The LLM writes prose; it doesn't make the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56432"/>
            <a:ext cx="5044287" cy="2231136"/>
          </a:xfrm>
          <a:prstGeom prst="rect">
            <a:avLst/>
          </a:prstGeom>
          <a:solidFill>
            <a:srgbClr val="0B111C"/>
          </a:solidFill>
          <a:ln w="9525">
            <a:solidFill>
              <a:srgbClr val="3FB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3639312"/>
            <a:ext cx="456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spc="140">
                <a:solidFill>
                  <a:srgbClr val="3FB6C9"/>
                </a:solidFill>
                <a:latin typeface="Archivo"/>
              </a:rPr>
              <a:t>REAL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00" b="0">
                <a:solidFill>
                  <a:srgbClr val="E8EDF4"/>
                </a:solidFill>
                <a:latin typeface="IBM Plex Mono"/>
              </a:rPr>
              <a:t>29,310 FDA recalls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17,204 geocoded sites with critical-violation counts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Distributor recall histories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LiDAR building geometry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456432"/>
            <a:ext cx="5044287" cy="2231136"/>
          </a:xfrm>
          <a:prstGeom prst="rect">
            <a:avLst/>
          </a:prstGeom>
          <a:solidFill>
            <a:srgbClr val="0B111C"/>
          </a:solidFill>
          <a:ln w="9525">
            <a:solidFill>
              <a:srgbClr val="E0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7911" y="3639312"/>
            <a:ext cx="456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spc="140">
                <a:solidFill>
                  <a:srgbClr val="E0A95A"/>
                </a:solidFill>
                <a:latin typeface="Archivo"/>
              </a:rPr>
              <a:t>MODELED — and labeled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00" b="0">
                <a:solidFill>
                  <a:srgbClr val="E8EDF4"/>
                </a:solidFill>
                <a:latin typeface="IBM Plex Mono"/>
              </a:rPr>
              <a:t>Which supplier feeds which site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EDF4"/>
                </a:solidFill>
                <a:latin typeface="IBM Plex Mono"/>
              </a:rPr>
              <a:t>The illustrative 12-site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07024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3FB6C9"/>
                </a:solidFill>
                <a:latin typeface="Archivo"/>
              </a:rPr>
              <a:t>When a real food business plugs in their real supplier list, the modeled layer disappears.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Five stages. The LLM touches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78608"/>
            <a:ext cx="1975104" cy="1005840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706624"/>
            <a:ext cx="16824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Watcher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detects a new openFDA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A95"/>
                </a:solidFill>
                <a:latin typeface="IBM Plex Mono"/>
              </a:rPr>
              <a:t>enforcement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2344" y="29260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2011680"/>
            <a:ext cx="1975104" cy="1060704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2139696"/>
            <a:ext cx="168249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Tracer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recall firm → suppliers,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A95"/>
                </a:solidFill>
                <a:latin typeface="IBM Plex Mono"/>
              </a:rPr>
              <a:t>then the sites they feed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3200400"/>
            <a:ext cx="1975104" cy="1060704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3328416"/>
            <a:ext cx="168249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Risk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crit_violations +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A95"/>
                </a:solidFill>
                <a:latin typeface="IBM Plex Mono"/>
              </a:rPr>
              <a:t>recall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433425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FB6C9"/>
                </a:solidFill>
                <a:latin typeface="IBM Plex Mono"/>
              </a:rPr>
              <a:t>run concurrently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29260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2936" y="2578608"/>
            <a:ext cx="1975104" cy="1005840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706624"/>
            <a:ext cx="16824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DF4"/>
                </a:solidFill>
                <a:latin typeface="Archivo"/>
              </a:rPr>
              <a:t>Briefer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site list, action,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A95"/>
                </a:solidFill>
                <a:latin typeface="IBM Plex Mono"/>
              </a:rPr>
              <a:t>supplier-swap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9260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3FB6C9"/>
                </a:solidFill>
                <a:latin typeface="Archivo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2578608"/>
            <a:ext cx="1975104" cy="1005840"/>
          </a:xfrm>
          <a:prstGeom prst="rect">
            <a:avLst/>
          </a:prstGeom>
          <a:solidFill>
            <a:srgbClr val="0B111C"/>
          </a:solidFill>
          <a:ln w="9525">
            <a:solidFill>
              <a:srgbClr val="E0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706624"/>
            <a:ext cx="16824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A95A"/>
                </a:solidFill>
                <a:latin typeface="Archivo"/>
              </a:rPr>
              <a:t>Comms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950" b="0">
                <a:solidFill>
                  <a:srgbClr val="6B7A95"/>
                </a:solidFill>
                <a:latin typeface="IBM Plex Mono"/>
              </a:rPr>
              <a:t>wording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367588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0A95A"/>
                </a:solidFill>
                <a:latin typeface="IBM Plex Mono"/>
              </a:rPr>
              <a:t>the only LLM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26864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E8EDF4"/>
                </a:solidFill>
                <a:latin typeface="Archivo"/>
              </a:rPr>
              <a:t>Four of five stages are pure deterministic computation over real data — an orchestration of auditable steps, not a chain of LLM guesses.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1150" b="0">
                <a:solidFill>
                  <a:srgbClr val="6B7A95"/>
                </a:solidFill>
                <a:latin typeface="IBM Plex Mono"/>
              </a:rPr>
              <a:t>MongoDB earns its place: 2dsphere $near for geospatial, $lookup/$group to roll up exposure at query time, and a change stream that watches. A spreadsheet is a snapshot; this is a watcher.</a:t>
            </a:r>
          </a:p>
          <a:p>
            <a:pPr algn="l">
              <a:spcBef>
                <a:spcPts val="1000"/>
              </a:spcBef>
            </a:pPr>
            <a:r>
              <a:rPr sz="1050" b="0">
                <a:solidFill>
                  <a:srgbClr val="3FB6C9"/>
                </a:solidFill>
                <a:latin typeface="IBM Plex Mono"/>
              </a:rPr>
              <a:t>Model: Llama-3.1-Nemotron-Nano-4B via vLLM on localhost:8000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The hinge is a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FB6C9"/>
                </a:solidFill>
                <a:latin typeface="IBM Plex Mono"/>
              </a:rPr>
              <a:t>and it writes our data for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4254886" cy="1920240"/>
          </a:xfrm>
          <a:prstGeom prst="rect">
            <a:avLst/>
          </a:prstGeom>
          <a:solidFill>
            <a:srgbClr val="0B111C"/>
          </a:solidFill>
          <a:ln w="9525">
            <a:solidFill>
              <a:srgbClr val="E0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542032"/>
            <a:ext cx="374282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0A95A"/>
                </a:solidFill>
                <a:latin typeface="Archivo"/>
              </a:rPr>
              <a:t>JULY 20, 2028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150" b="0">
                <a:solidFill>
                  <a:srgbClr val="6B7A95"/>
                </a:solidFill>
                <a:latin typeface="IBM Plex Mono"/>
              </a:rPr>
              <a:t>FSMA 204 becomes mandatory. To comply, food businesses must generate lot codes and key data elements at every critical tracking event.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9326" y="2304288"/>
            <a:ext cx="592512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E8EDF4"/>
                </a:solidFill>
                <a:latin typeface="Archivo"/>
              </a:rPr>
              <a:t>Those records are exactly the edges we model today.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300" b="0">
                <a:solidFill>
                  <a:srgbClr val="6B7A95"/>
                </a:solidFill>
                <a:latin typeface="IBM Plex Mono"/>
              </a:rPr>
              <a:t>Feed them into the same engine and the modeled links become real provenance. No new algorithm — the same aggregation on real edges.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250" b="0">
                <a:solidFill>
                  <a:srgbClr val="3FB6C9"/>
                </a:solidFill>
                <a:latin typeface="IBM Plex Mono"/>
              </a:rPr>
              <a:t>Wedge: recall response.  Moat: the traceability system of record the law requires.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560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80">
                <a:solidFill>
                  <a:srgbClr val="6B7A95"/>
                </a:solidFill>
                <a:latin typeface="IBM Plex Mono"/>
              </a:rPr>
              <a:t>WHO BUYS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303520"/>
            <a:ext cx="2453563" cy="566928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5449824"/>
            <a:ext cx="21609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DF4"/>
                </a:solidFill>
                <a:latin typeface="Archivo"/>
              </a:rPr>
              <a:t>Regional restaurant chains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123" y="5303520"/>
            <a:ext cx="2453563" cy="566928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1427" y="5449824"/>
            <a:ext cx="21609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DF4"/>
                </a:solidFill>
                <a:latin typeface="Archivo"/>
              </a:rPr>
              <a:t>Ghost-kitchen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6" y="5303520"/>
            <a:ext cx="2453563" cy="566928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0" y="5449824"/>
            <a:ext cx="21609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DF4"/>
                </a:solidFill>
                <a:latin typeface="Archivo"/>
              </a:rPr>
              <a:t>Distributors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89" y="5303520"/>
            <a:ext cx="2453563" cy="566928"/>
          </a:xfrm>
          <a:prstGeom prst="rect">
            <a:avLst/>
          </a:prstGeom>
          <a:solidFill>
            <a:srgbClr val="0B111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193" y="5449824"/>
            <a:ext cx="21609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DF4"/>
                </a:solidFill>
                <a:latin typeface="Archivo"/>
              </a:rPr>
              <a:t>Grocers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95"/>
                </a:solidFill>
                <a:latin typeface="IBM Plex Mono"/>
              </a:rPr>
              <a:t>~$30B by 2030   ·   food-traceability technology market (Grand View, 8.8% CAGR; other houses put 2030 at $10B–$44B)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00">
                <a:solidFill>
                  <a:srgbClr val="6B7A95"/>
                </a:solidFill>
                <a:latin typeface="IBM Plex Mono"/>
              </a:rPr>
              <a:t>THE NEXT REAL MILESTONE</a:t>
            </a:r>
          </a:p>
          <a:p>
            <a:pPr algn="ctr">
              <a:lnSpc>
                <a:spcPct val="125000"/>
              </a:lnSpc>
              <a:spcBef>
                <a:spcPts val="2200"/>
              </a:spcBef>
            </a:pPr>
            <a:r>
              <a:rPr sz="4600" b="1">
                <a:solidFill>
                  <a:srgbClr val="E8EDF4"/>
                </a:solidFill>
                <a:latin typeface="Archivo"/>
              </a:rPr>
              <a:t>One restaurant group.</a:t>
            </a:r>
          </a:p>
          <a:p>
            <a:pPr algn="ctr">
              <a:lnSpc>
                <a:spcPct val="125000"/>
              </a:lnSpc>
            </a:pPr>
            <a:r>
              <a:rPr sz="4600" b="1">
                <a:solidFill>
                  <a:srgbClr val="E8EDF4"/>
                </a:solidFill>
                <a:latin typeface="Archivo"/>
              </a:rPr>
              <a:t>Their real purchase records.</a:t>
            </a:r>
          </a:p>
          <a:p>
            <a:pPr algn="ctr">
              <a:lnSpc>
                <a:spcPct val="125000"/>
              </a:lnSpc>
            </a:pPr>
            <a:r>
              <a:rPr sz="4600" b="1">
                <a:solidFill>
                  <a:srgbClr val="E8EDF4"/>
                </a:solidFill>
                <a:latin typeface="Archivo"/>
              </a:rPr>
              <a:t>Twelve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5767" y="5285232"/>
            <a:ext cx="1280160" cy="952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That one step converts the modeled edges into real provenance and proves the platform hinge on live data.</a:t>
            </a:r>
          </a:p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6B7A95"/>
                </a:solidFill>
                <a:latin typeface="IBM Plex Mono"/>
              </a:rPr>
              <a:t>No hockey stick — one operator, their records, on their own box. Same engine the whole way 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20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20">
                <a:solidFill>
                  <a:srgbClr val="6B7A95"/>
                </a:solidFill>
                <a:latin typeface="IBM Plex Mono"/>
              </a:rPr>
              <a:t>INTERNAL — DO NOT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206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120">
                <a:solidFill>
                  <a:srgbClr val="1B2740"/>
                </a:solidFill>
                <a:latin typeface="IBM Plex Mon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Archivo"/>
              </a:rPr>
              <a:t>The six we never overclaim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Recall responder, not outbreak detector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~100% of our feed (FDA lot-coded recalls); only a minority of real epidemiological outbreaks.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066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06624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FSIS is a labeled blind spot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FDA-only. Boar's Head 2024 wouldn't appear. Pre-empt it; don't get caught.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01568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Local inference is currently thin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The LLM writes one narration sentence; deterministic Mongo makes every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65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Change stream isn't wired to run() yet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The Watcher observes inserts; it does not auto-trigger the pipeline. We trigger runs explicitly.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914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91456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Supplier→site links are modeled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The FSMA-204 gap we exist to close — labeled modeled, not passed off as ground truth.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484D"/>
                </a:solidFill>
                <a:latin typeface="IBM Plex Mono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486400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DF4"/>
                </a:solidFill>
                <a:latin typeface="Archivo"/>
              </a:rPr>
              <a:t>Telegram is draft-not-send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6B7A95"/>
                </a:solidFill>
                <a:latin typeface="IBM Plex Mono"/>
              </a:rPr>
              <a:t>The Comms output is prepared, not auto-dispatched to a live operator channel.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